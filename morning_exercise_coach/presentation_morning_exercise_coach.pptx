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Roboto" panose="02000000000000000000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5" d="100"/>
          <a:sy n="145" d="100"/>
        </p:scale>
        <p:origin x="948" y="27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20fd95aa07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120fd95aa07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120fd95aa07_0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20fd95aa07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8" name="Google Shape;68;g120fd95aa07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0fd95aa07_0_1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9" name="Google Shape;89;g120fd95aa07_0_1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120fd95aa07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g120fd95aa07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120fd95aa07_0_1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120fd95aa07_0_1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120fd95aa07_0_1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4" name="Google Shape;144;g120fd95aa07_0_1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120fd95aa07_0_2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120fd95aa07_0_2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120fd95aa07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4" name="Google Shape;224;g120fd95aa07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120fd95aa07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6" name="Google Shape;246;g120fd95aa07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120fd95aa07_0_2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7" name="Google Shape;267;g120fd95aa07_0_2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7200" y="20597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57200" y="1200151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jp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53139" y="3867894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801" y="771550"/>
            <a:ext cx="3126119" cy="72964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725801" y="2083385"/>
            <a:ext cx="7772400" cy="13593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41414"/>
                </a:solidFill>
              </a:defRPr>
            </a:pPr>
            <a:r>
              <a:rPr dirty="0">
                <a:solidFill>
                  <a:schemeClr val="tx2"/>
                </a:solidFill>
              </a:rPr>
              <a:t>Virtual Morning Exercise Coach</a:t>
            </a:r>
          </a:p>
          <a:p>
            <a:pPr>
              <a:spcAft>
                <a:spcPts val="2000"/>
              </a:spcAft>
              <a:defRPr sz="1600">
                <a:solidFill>
                  <a:srgbClr val="464646"/>
                </a:solidFill>
              </a:defRPr>
            </a:pPr>
            <a:r>
              <a:rPr dirty="0" err="1">
                <a:solidFill>
                  <a:schemeClr val="tx2"/>
                </a:solidFill>
              </a:rPr>
              <a:t>Автоматическая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оценка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техники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физических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упражнений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по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видео</a:t>
            </a:r>
            <a:endParaRPr dirty="0">
              <a:solidFill>
                <a:schemeClr val="tx2"/>
              </a:solidFill>
            </a:endParaRPr>
          </a:p>
          <a:p>
            <a:pPr>
              <a:defRPr sz="1300">
                <a:solidFill>
                  <a:srgbClr val="009646"/>
                </a:solidFill>
              </a:defRPr>
            </a:pPr>
            <a:r>
              <a:rPr dirty="0" err="1"/>
              <a:t>Дипломный</a:t>
            </a:r>
            <a:r>
              <a:rPr dirty="0"/>
              <a:t> </a:t>
            </a:r>
            <a:r>
              <a:rPr dirty="0" err="1"/>
              <a:t>проект</a:t>
            </a:r>
            <a:r>
              <a:rPr dirty="0"/>
              <a:t> </a:t>
            </a:r>
            <a:r>
              <a:rPr dirty="0" err="1"/>
              <a:t>по</a:t>
            </a:r>
            <a:r>
              <a:rPr dirty="0"/>
              <a:t> </a:t>
            </a:r>
            <a:r>
              <a:rPr dirty="0" err="1"/>
              <a:t>специализации</a:t>
            </a:r>
            <a:r>
              <a:rPr dirty="0"/>
              <a:t> «Data Science, Computer Vision» •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6049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251520" y="121688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1520" y="430011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О чём проект: Тема, Цель и Актуальность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65760" y="1188720"/>
            <a:ext cx="39319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1. ТЕМА ПРОЕКТА</a:t>
            </a:r>
          </a:p>
          <a:p>
            <a:pPr>
              <a:spcAft>
                <a:spcPts val="14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 err="1"/>
              <a:t>Оценка</a:t>
            </a:r>
            <a:r>
              <a:rPr dirty="0"/>
              <a:t> </a:t>
            </a:r>
            <a:r>
              <a:rPr dirty="0" err="1"/>
              <a:t>соответствия</a:t>
            </a:r>
            <a:r>
              <a:rPr dirty="0"/>
              <a:t> </a:t>
            </a:r>
            <a:r>
              <a:rPr dirty="0" err="1"/>
              <a:t>движений</a:t>
            </a:r>
            <a:r>
              <a:rPr dirty="0"/>
              <a:t> </a:t>
            </a:r>
            <a:r>
              <a:rPr dirty="0" err="1"/>
              <a:t>человека</a:t>
            </a:r>
            <a:r>
              <a:rPr dirty="0"/>
              <a:t> </a:t>
            </a:r>
            <a:r>
              <a:rPr dirty="0" err="1"/>
              <a:t>эталонному</a:t>
            </a:r>
            <a:r>
              <a:rPr dirty="0"/>
              <a:t> </a:t>
            </a:r>
            <a:r>
              <a:rPr dirty="0" err="1"/>
              <a:t>выполнению</a:t>
            </a:r>
            <a:r>
              <a:rPr dirty="0"/>
              <a:t> </a:t>
            </a:r>
            <a:r>
              <a:rPr dirty="0" err="1"/>
              <a:t>утренней</a:t>
            </a:r>
            <a:r>
              <a:rPr dirty="0"/>
              <a:t> </a:t>
            </a:r>
            <a:r>
              <a:rPr dirty="0" err="1"/>
              <a:t>зарядки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сопоставления</a:t>
            </a:r>
            <a:r>
              <a:rPr dirty="0"/>
              <a:t> </a:t>
            </a:r>
            <a:r>
              <a:rPr dirty="0" err="1"/>
              <a:t>ключевых</a:t>
            </a:r>
            <a:r>
              <a:rPr dirty="0"/>
              <a:t> </a:t>
            </a:r>
            <a:r>
              <a:rPr dirty="0" err="1"/>
              <a:t>точек</a:t>
            </a:r>
            <a:r>
              <a:rPr dirty="0"/>
              <a:t> </a:t>
            </a:r>
            <a:r>
              <a:rPr dirty="0" err="1"/>
              <a:t>тела</a:t>
            </a:r>
            <a:r>
              <a:rPr dirty="0"/>
              <a:t> (Human Pose Estimation).</a:t>
            </a:r>
          </a:p>
          <a:p>
            <a:pPr>
              <a:spcAft>
                <a:spcPts val="4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2. ЦЕЛЬ ПРОЕКТА</a:t>
            </a:r>
          </a:p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воспроизводимого</a:t>
            </a:r>
            <a:r>
              <a:rPr dirty="0"/>
              <a:t> </a:t>
            </a:r>
            <a:r>
              <a:rPr dirty="0" err="1"/>
              <a:t>пайплайна</a:t>
            </a:r>
            <a:r>
              <a:rPr dirty="0"/>
              <a:t>: </a:t>
            </a:r>
            <a:r>
              <a:rPr dirty="0" err="1"/>
              <a:t>временная</a:t>
            </a:r>
            <a:r>
              <a:rPr dirty="0"/>
              <a:t> </a:t>
            </a:r>
            <a:r>
              <a:rPr dirty="0" err="1"/>
              <a:t>синхронизация</a:t>
            </a:r>
            <a:r>
              <a:rPr dirty="0"/>
              <a:t> </a:t>
            </a:r>
            <a:r>
              <a:rPr dirty="0" err="1"/>
              <a:t>двух</a:t>
            </a:r>
            <a:r>
              <a:rPr dirty="0"/>
              <a:t> </a:t>
            </a:r>
            <a:r>
              <a:rPr dirty="0" err="1"/>
              <a:t>разнодлительных</a:t>
            </a:r>
            <a:r>
              <a:rPr dirty="0"/>
              <a:t> </a:t>
            </a:r>
            <a:r>
              <a:rPr dirty="0" err="1"/>
              <a:t>видео</a:t>
            </a:r>
            <a:r>
              <a:rPr dirty="0"/>
              <a:t>, </a:t>
            </a:r>
            <a:r>
              <a:rPr dirty="0" err="1"/>
              <a:t>пространственная</a:t>
            </a:r>
            <a:r>
              <a:rPr dirty="0"/>
              <a:t> </a:t>
            </a:r>
            <a:r>
              <a:rPr dirty="0" err="1"/>
              <a:t>нормализация</a:t>
            </a:r>
            <a:r>
              <a:rPr dirty="0"/>
              <a:t> </a:t>
            </a:r>
            <a:r>
              <a:rPr dirty="0" err="1"/>
              <a:t>поз</a:t>
            </a:r>
            <a:r>
              <a:rPr dirty="0"/>
              <a:t> и </a:t>
            </a:r>
            <a:r>
              <a:rPr dirty="0" err="1"/>
              <a:t>покадровый</a:t>
            </a:r>
            <a:r>
              <a:rPr dirty="0"/>
              <a:t> </a:t>
            </a:r>
            <a:r>
              <a:rPr dirty="0" err="1"/>
              <a:t>расчёт</a:t>
            </a:r>
            <a:r>
              <a:rPr dirty="0"/>
              <a:t> </a:t>
            </a:r>
            <a:r>
              <a:rPr dirty="0" err="1"/>
              <a:t>метрик</a:t>
            </a:r>
            <a:r>
              <a:rPr dirty="0"/>
              <a:t> </a:t>
            </a:r>
            <a:r>
              <a:rPr dirty="0" err="1"/>
              <a:t>сходства</a:t>
            </a:r>
            <a:r>
              <a:rPr dirty="0"/>
              <a:t> с </a:t>
            </a:r>
            <a:r>
              <a:rPr dirty="0" err="1"/>
              <a:t>генерацией</a:t>
            </a:r>
            <a:r>
              <a:rPr dirty="0"/>
              <a:t> </a:t>
            </a:r>
            <a:r>
              <a:rPr dirty="0" err="1"/>
              <a:t>видео-отчёта</a:t>
            </a:r>
            <a:r>
              <a:rPr dirty="0"/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663440" y="1188720"/>
            <a:ext cx="4114800" cy="1836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3. АКТУАЛЬНОСТЬ И ПРАКТИЧЕСКАЯ ЦЕННОСТЬ</a:t>
            </a:r>
          </a:p>
          <a:p>
            <a:pPr>
              <a:spcAft>
                <a:spcPts val="8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Персонализированный</a:t>
            </a:r>
            <a:r>
              <a:rPr dirty="0"/>
              <a:t> </a:t>
            </a:r>
            <a:r>
              <a:rPr dirty="0" err="1"/>
              <a:t>фитнес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тренера</a:t>
            </a:r>
            <a:r>
              <a:rPr dirty="0"/>
              <a:t>: </a:t>
            </a:r>
            <a:r>
              <a:rPr dirty="0" err="1"/>
              <a:t>автоматический</a:t>
            </a:r>
            <a:r>
              <a:rPr dirty="0"/>
              <a:t> </a:t>
            </a:r>
            <a:r>
              <a:rPr dirty="0" err="1"/>
              <a:t>объективный</a:t>
            </a:r>
            <a:r>
              <a:rPr dirty="0"/>
              <a:t> </a:t>
            </a:r>
            <a:r>
              <a:rPr dirty="0" err="1"/>
              <a:t>контроль</a:t>
            </a:r>
            <a:r>
              <a:rPr dirty="0"/>
              <a:t> </a:t>
            </a:r>
            <a:r>
              <a:rPr dirty="0" err="1"/>
              <a:t>правильности</a:t>
            </a:r>
            <a:r>
              <a:rPr dirty="0"/>
              <a:t> </a:t>
            </a:r>
            <a:r>
              <a:rPr dirty="0" err="1"/>
              <a:t>упражнений</a:t>
            </a:r>
            <a:r>
              <a:rPr dirty="0"/>
              <a:t> в </a:t>
            </a:r>
            <a:r>
              <a:rPr dirty="0" err="1"/>
              <a:t>домашних</a:t>
            </a:r>
            <a:r>
              <a:rPr dirty="0"/>
              <a:t> </a:t>
            </a:r>
            <a:r>
              <a:rPr dirty="0" err="1"/>
              <a:t>условиях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Бизнес-эффект</a:t>
            </a:r>
            <a:r>
              <a:rPr dirty="0"/>
              <a:t>: </a:t>
            </a:r>
            <a:r>
              <a:rPr dirty="0" err="1"/>
              <a:t>повышение</a:t>
            </a:r>
            <a:r>
              <a:rPr dirty="0"/>
              <a:t> </a:t>
            </a:r>
            <a:r>
              <a:rPr dirty="0" err="1"/>
              <a:t>вовлечённости</a:t>
            </a:r>
            <a:r>
              <a:rPr dirty="0"/>
              <a:t> и </a:t>
            </a:r>
            <a:r>
              <a:rPr dirty="0" err="1"/>
              <a:t>удержания</a:t>
            </a:r>
            <a:r>
              <a:rPr dirty="0"/>
              <a:t> </a:t>
            </a:r>
            <a:r>
              <a:rPr dirty="0" err="1"/>
              <a:t>пользователей</a:t>
            </a:r>
            <a:r>
              <a:rPr dirty="0"/>
              <a:t> </a:t>
            </a:r>
            <a:r>
              <a:rPr dirty="0" err="1"/>
              <a:t>фитнес-сервисов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счёт</a:t>
            </a:r>
            <a:r>
              <a:rPr dirty="0"/>
              <a:t> </a:t>
            </a:r>
            <a:r>
              <a:rPr dirty="0" err="1"/>
              <a:t>интерактивной</a:t>
            </a:r>
            <a:r>
              <a:rPr dirty="0"/>
              <a:t> </a:t>
            </a:r>
            <a:r>
              <a:rPr dirty="0" err="1"/>
              <a:t>визуальной</a:t>
            </a:r>
            <a:r>
              <a:rPr dirty="0"/>
              <a:t> </a:t>
            </a:r>
            <a:r>
              <a:rPr dirty="0" err="1"/>
              <a:t>обратной</a:t>
            </a:r>
            <a:r>
              <a:rPr dirty="0"/>
              <a:t> </a:t>
            </a:r>
            <a:r>
              <a:rPr dirty="0" err="1"/>
              <a:t>связи</a:t>
            </a:r>
            <a:r>
              <a:rPr dirty="0"/>
              <a:t>.</a:t>
            </a:r>
          </a:p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Безопасность</a:t>
            </a:r>
            <a:r>
              <a:rPr dirty="0"/>
              <a:t>: </a:t>
            </a:r>
            <a:r>
              <a:rPr dirty="0" err="1"/>
              <a:t>снижение</a:t>
            </a:r>
            <a:r>
              <a:rPr dirty="0"/>
              <a:t> </a:t>
            </a:r>
            <a:r>
              <a:rPr dirty="0" err="1"/>
              <a:t>риска</a:t>
            </a:r>
            <a:r>
              <a:rPr dirty="0"/>
              <a:t> </a:t>
            </a:r>
            <a:r>
              <a:rPr dirty="0" err="1"/>
              <a:t>травм</a:t>
            </a:r>
            <a:r>
              <a:rPr dirty="0"/>
              <a:t> и </a:t>
            </a:r>
            <a:r>
              <a:rPr dirty="0" err="1"/>
              <a:t>повышение</a:t>
            </a:r>
            <a:r>
              <a:rPr dirty="0"/>
              <a:t> </a:t>
            </a:r>
            <a:r>
              <a:rPr dirty="0" err="1"/>
              <a:t>эффективности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физических</a:t>
            </a:r>
            <a:r>
              <a:rPr dirty="0"/>
              <a:t> </a:t>
            </a:r>
            <a:r>
              <a:rPr dirty="0" err="1"/>
              <a:t>упражнений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94261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15181" y="3723878"/>
            <a:ext cx="462611" cy="4602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342277" y="2211710"/>
            <a:ext cx="446420" cy="4464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40804" y="699542"/>
            <a:ext cx="455332" cy="45765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TextBox 106"/>
          <p:cNvSpPr txBox="1"/>
          <p:nvPr/>
        </p:nvSpPr>
        <p:spPr>
          <a:xfrm>
            <a:off x="411480" y="526109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rPr dirty="0" err="1"/>
              <a:t>Планирование</a:t>
            </a:r>
            <a:r>
              <a:rPr dirty="0"/>
              <a:t> и </a:t>
            </a:r>
            <a:r>
              <a:rPr dirty="0" err="1"/>
              <a:t>этапы</a:t>
            </a:r>
            <a:r>
              <a:rPr dirty="0"/>
              <a:t> </a:t>
            </a:r>
            <a:r>
              <a:rPr dirty="0" err="1"/>
              <a:t>реализации</a:t>
            </a:r>
            <a:r>
              <a:rPr dirty="0"/>
              <a:t> </a:t>
            </a:r>
            <a:r>
              <a:rPr dirty="0" err="1"/>
              <a:t>проекта</a:t>
            </a:r>
            <a:endParaRPr dirty="0"/>
          </a:p>
        </p:txBody>
      </p:sp>
      <p:sp>
        <p:nvSpPr>
          <p:cNvPr id="108" name="TextBox 107"/>
          <p:cNvSpPr txBox="1"/>
          <p:nvPr/>
        </p:nvSpPr>
        <p:spPr>
          <a:xfrm>
            <a:off x="411480" y="969451"/>
            <a:ext cx="4114800" cy="191847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ЭТАПЫ РАЗРАБОТКИ (СПРИНТЫ I–IV)</a:t>
            </a:r>
          </a:p>
          <a:p>
            <a:pPr>
              <a:spcAft>
                <a:spcPts val="6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1. </a:t>
            </a:r>
            <a:r>
              <a:rPr sz="1000" dirty="0" err="1"/>
              <a:t>Спринт</a:t>
            </a:r>
            <a:r>
              <a:rPr sz="1000" dirty="0"/>
              <a:t> I (1 </a:t>
            </a:r>
            <a:r>
              <a:rPr sz="1000" dirty="0" err="1"/>
              <a:t>нед</a:t>
            </a:r>
            <a:r>
              <a:rPr sz="1000" dirty="0"/>
              <a:t>.): </a:t>
            </a:r>
            <a:r>
              <a:rPr sz="1000" dirty="0" err="1"/>
              <a:t>Детекция</a:t>
            </a:r>
            <a:r>
              <a:rPr sz="1000" dirty="0"/>
              <a:t> </a:t>
            </a:r>
            <a:r>
              <a:rPr sz="1000" dirty="0" err="1"/>
              <a:t>опорных</a:t>
            </a:r>
            <a:r>
              <a:rPr sz="1000" dirty="0"/>
              <a:t> </a:t>
            </a:r>
            <a:r>
              <a:rPr sz="1000" dirty="0" err="1"/>
              <a:t>точек</a:t>
            </a:r>
            <a:r>
              <a:rPr sz="1000" dirty="0"/>
              <a:t> и </a:t>
            </a:r>
            <a:r>
              <a:rPr sz="1000" dirty="0" err="1"/>
              <a:t>отрисовка</a:t>
            </a:r>
            <a:r>
              <a:rPr sz="1000" dirty="0"/>
              <a:t> </a:t>
            </a:r>
            <a:r>
              <a:rPr sz="1000" dirty="0" err="1"/>
              <a:t>скелета</a:t>
            </a:r>
            <a:r>
              <a:rPr sz="1000" dirty="0"/>
              <a:t> </a:t>
            </a:r>
            <a:r>
              <a:rPr sz="1000" dirty="0" err="1"/>
              <a:t>человека</a:t>
            </a:r>
            <a:r>
              <a:rPr sz="1000" dirty="0"/>
              <a:t> </a:t>
            </a:r>
            <a:r>
              <a:rPr sz="1000" dirty="0" err="1"/>
              <a:t>на</a:t>
            </a:r>
            <a:r>
              <a:rPr sz="1000" dirty="0"/>
              <a:t> </a:t>
            </a:r>
            <a:r>
              <a:rPr sz="1000" dirty="0" err="1"/>
              <a:t>фото</a:t>
            </a:r>
            <a:r>
              <a:rPr sz="1000" dirty="0"/>
              <a:t>/</a:t>
            </a:r>
            <a:r>
              <a:rPr sz="1000" dirty="0" err="1"/>
              <a:t>видео</a:t>
            </a:r>
            <a:r>
              <a:rPr sz="1000" dirty="0"/>
              <a:t>.</a:t>
            </a:r>
          </a:p>
          <a:p>
            <a:pPr>
              <a:spcAft>
                <a:spcPts val="6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2. </a:t>
            </a:r>
            <a:r>
              <a:rPr sz="1000" dirty="0" err="1"/>
              <a:t>Спринт</a:t>
            </a:r>
            <a:r>
              <a:rPr sz="1000" dirty="0"/>
              <a:t> II (1 </a:t>
            </a:r>
            <a:r>
              <a:rPr sz="1000" dirty="0" err="1"/>
              <a:t>нед</a:t>
            </a:r>
            <a:r>
              <a:rPr sz="1000" dirty="0"/>
              <a:t>.): </a:t>
            </a:r>
            <a:r>
              <a:rPr sz="1000" dirty="0" err="1"/>
              <a:t>Пространственная</a:t>
            </a:r>
            <a:r>
              <a:rPr sz="1000" dirty="0"/>
              <a:t> </a:t>
            </a:r>
            <a:r>
              <a:rPr sz="1000" dirty="0" err="1"/>
              <a:t>нормализация</a:t>
            </a:r>
            <a:r>
              <a:rPr sz="1000" dirty="0"/>
              <a:t> (</a:t>
            </a:r>
            <a:r>
              <a:rPr sz="1000" dirty="0" err="1"/>
              <a:t>центрирование</a:t>
            </a:r>
            <a:r>
              <a:rPr sz="1000" dirty="0"/>
              <a:t>, </a:t>
            </a:r>
            <a:r>
              <a:rPr sz="1000" dirty="0" err="1"/>
              <a:t>масштаб</a:t>
            </a:r>
            <a:r>
              <a:rPr sz="1000" dirty="0"/>
              <a:t>, </a:t>
            </a:r>
            <a:r>
              <a:rPr sz="1000" dirty="0" err="1"/>
              <a:t>аффинные</a:t>
            </a:r>
            <a:r>
              <a:rPr sz="1000" dirty="0"/>
              <a:t> </a:t>
            </a:r>
            <a:r>
              <a:rPr sz="1000" dirty="0" err="1"/>
              <a:t>трансформации</a:t>
            </a:r>
            <a:r>
              <a:rPr sz="1000" dirty="0"/>
              <a:t>), </a:t>
            </a:r>
            <a:r>
              <a:rPr sz="1000" dirty="0" err="1"/>
              <a:t>формулы</a:t>
            </a:r>
            <a:r>
              <a:rPr sz="1000" dirty="0"/>
              <a:t> </a:t>
            </a:r>
            <a:r>
              <a:rPr sz="1000" dirty="0" err="1"/>
              <a:t>метрик</a:t>
            </a:r>
            <a:r>
              <a:rPr sz="1000" dirty="0"/>
              <a:t>.</a:t>
            </a:r>
          </a:p>
          <a:p>
            <a:pPr>
              <a:spcAft>
                <a:spcPts val="6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3. </a:t>
            </a:r>
            <a:r>
              <a:rPr sz="1000" dirty="0" err="1"/>
              <a:t>Спринт</a:t>
            </a:r>
            <a:r>
              <a:rPr sz="1000" dirty="0"/>
              <a:t> III (1 </a:t>
            </a:r>
            <a:r>
              <a:rPr sz="1000" dirty="0" err="1"/>
              <a:t>нед</a:t>
            </a:r>
            <a:r>
              <a:rPr sz="1000" dirty="0"/>
              <a:t>.): </a:t>
            </a:r>
            <a:r>
              <a:rPr sz="1000" dirty="0" err="1"/>
              <a:t>Временная</a:t>
            </a:r>
            <a:r>
              <a:rPr sz="1000" dirty="0"/>
              <a:t> </a:t>
            </a:r>
            <a:r>
              <a:rPr sz="1000" dirty="0" err="1"/>
              <a:t>синхронизация</a:t>
            </a:r>
            <a:r>
              <a:rPr sz="1000" dirty="0"/>
              <a:t> </a:t>
            </a:r>
            <a:r>
              <a:rPr sz="1000" dirty="0" err="1"/>
              <a:t>кадров</a:t>
            </a:r>
            <a:r>
              <a:rPr sz="1000" dirty="0"/>
              <a:t> </a:t>
            </a:r>
            <a:r>
              <a:rPr sz="1000" dirty="0" err="1"/>
              <a:t>разнодлительных</a:t>
            </a:r>
            <a:r>
              <a:rPr sz="1000" dirty="0"/>
              <a:t> </a:t>
            </a:r>
            <a:r>
              <a:rPr sz="1000" dirty="0" err="1"/>
              <a:t>видеопотоков</a:t>
            </a:r>
            <a:r>
              <a:rPr sz="1000" dirty="0"/>
              <a:t>.</a:t>
            </a:r>
          </a:p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4. </a:t>
            </a:r>
            <a:r>
              <a:rPr sz="1000" dirty="0" err="1"/>
              <a:t>Спринт</a:t>
            </a:r>
            <a:r>
              <a:rPr sz="1000" dirty="0"/>
              <a:t> IV (1 </a:t>
            </a:r>
            <a:r>
              <a:rPr sz="1000" dirty="0" err="1"/>
              <a:t>нед</a:t>
            </a:r>
            <a:r>
              <a:rPr sz="1000" dirty="0"/>
              <a:t>.): </a:t>
            </a:r>
            <a:r>
              <a:rPr sz="1000" dirty="0" err="1"/>
              <a:t>Сборка</a:t>
            </a:r>
            <a:r>
              <a:rPr sz="1000" dirty="0"/>
              <a:t> </a:t>
            </a:r>
            <a:r>
              <a:rPr sz="1000" dirty="0" err="1"/>
              <a:t>модульного</a:t>
            </a:r>
            <a:r>
              <a:rPr sz="1000" dirty="0"/>
              <a:t> </a:t>
            </a:r>
            <a:r>
              <a:rPr sz="1000" dirty="0" err="1"/>
              <a:t>пакета</a:t>
            </a:r>
            <a:r>
              <a:rPr sz="1000" dirty="0"/>
              <a:t> </a:t>
            </a:r>
            <a:r>
              <a:rPr sz="1000" dirty="0" err="1"/>
              <a:t>src</a:t>
            </a:r>
            <a:r>
              <a:rPr sz="1000" dirty="0"/>
              <a:t>/, </a:t>
            </a:r>
            <a:r>
              <a:rPr sz="1000" dirty="0" err="1"/>
              <a:t>генерация</a:t>
            </a:r>
            <a:r>
              <a:rPr sz="1000" dirty="0"/>
              <a:t> MP4 с </a:t>
            </a:r>
            <a:r>
              <a:rPr sz="1000" dirty="0" err="1"/>
              <a:t>инфопанелью</a:t>
            </a:r>
            <a:r>
              <a:rPr sz="1000" dirty="0"/>
              <a:t>, unit-</a:t>
            </a:r>
            <a:r>
              <a:rPr sz="1000" dirty="0" err="1"/>
              <a:t>тесты</a:t>
            </a:r>
            <a:r>
              <a:rPr sz="1000" dirty="0"/>
              <a:t>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411480" y="2969825"/>
            <a:ext cx="4023360" cy="15081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СРОКИ И РЕСУРСЫ</a:t>
            </a:r>
          </a:p>
          <a:p>
            <a:pPr>
              <a:spcAft>
                <a:spcPts val="10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sz="1000" dirty="0"/>
              <a:t>• </a:t>
            </a:r>
            <a:r>
              <a:rPr sz="1000" dirty="0" err="1"/>
              <a:t>Общий</a:t>
            </a:r>
            <a:r>
              <a:rPr sz="1000" dirty="0"/>
              <a:t> </a:t>
            </a:r>
            <a:r>
              <a:rPr sz="1000" dirty="0" err="1"/>
              <a:t>срок</a:t>
            </a:r>
            <a:r>
              <a:rPr sz="1000" dirty="0"/>
              <a:t> </a:t>
            </a:r>
            <a:r>
              <a:rPr sz="1000" dirty="0" err="1"/>
              <a:t>проекта</a:t>
            </a:r>
            <a:r>
              <a:rPr sz="1000" dirty="0"/>
              <a:t>: 4 </a:t>
            </a:r>
            <a:r>
              <a:rPr sz="1000" dirty="0" err="1"/>
              <a:t>недели</a:t>
            </a:r>
            <a:r>
              <a:rPr sz="1000" dirty="0"/>
              <a:t> (</a:t>
            </a:r>
            <a:r>
              <a:rPr sz="1000" dirty="0" err="1"/>
              <a:t>полный</a:t>
            </a:r>
            <a:r>
              <a:rPr sz="1000" dirty="0"/>
              <a:t> </a:t>
            </a:r>
            <a:r>
              <a:rPr sz="1000" dirty="0" err="1"/>
              <a:t>инженерный</a:t>
            </a:r>
            <a:r>
              <a:rPr sz="1000" dirty="0"/>
              <a:t> </a:t>
            </a:r>
            <a:r>
              <a:rPr sz="1000" dirty="0" err="1"/>
              <a:t>цикл</a:t>
            </a:r>
            <a:r>
              <a:rPr sz="1000" dirty="0"/>
              <a:t>).</a:t>
            </a:r>
          </a:p>
          <a:p>
            <a:pPr>
              <a:spcAft>
                <a:spcPts val="6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• </a:t>
            </a:r>
            <a:r>
              <a:rPr sz="1000" dirty="0" err="1"/>
              <a:t>Среда</a:t>
            </a:r>
            <a:r>
              <a:rPr sz="1000" dirty="0"/>
              <a:t> и </a:t>
            </a:r>
            <a:r>
              <a:rPr sz="1000" dirty="0" err="1"/>
              <a:t>язык</a:t>
            </a:r>
            <a:r>
              <a:rPr sz="1000" dirty="0"/>
              <a:t>: Python 3.11, </a:t>
            </a:r>
            <a:r>
              <a:rPr sz="1000" dirty="0" err="1"/>
              <a:t>Jupyter</a:t>
            </a:r>
            <a:r>
              <a:rPr sz="1000" dirty="0"/>
              <a:t> Lab, Git / GitHub.</a:t>
            </a:r>
          </a:p>
          <a:p>
            <a:pPr>
              <a:spcAft>
                <a:spcPts val="6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• </a:t>
            </a:r>
            <a:r>
              <a:rPr sz="1000" dirty="0" err="1"/>
              <a:t>Библиотеки</a:t>
            </a:r>
            <a:r>
              <a:rPr sz="1000" dirty="0"/>
              <a:t>: </a:t>
            </a:r>
            <a:r>
              <a:rPr sz="1000" dirty="0" err="1"/>
              <a:t>MediaPipe</a:t>
            </a:r>
            <a:r>
              <a:rPr sz="1000" dirty="0"/>
              <a:t>, OpenCV </a:t>
            </a:r>
            <a:r>
              <a:rPr sz="1000" dirty="0" err="1"/>
              <a:t>Contrib</a:t>
            </a:r>
            <a:r>
              <a:rPr sz="1000" dirty="0"/>
              <a:t>, NumPy, Pandas, Matplotlib, Pillow.</a:t>
            </a:r>
          </a:p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rPr sz="1000" dirty="0"/>
              <a:t>• </a:t>
            </a:r>
            <a:r>
              <a:rPr sz="1000" dirty="0" err="1"/>
              <a:t>Аппаратные</a:t>
            </a:r>
            <a:r>
              <a:rPr sz="1000" dirty="0"/>
              <a:t> </a:t>
            </a:r>
            <a:r>
              <a:rPr sz="1000" dirty="0" err="1"/>
              <a:t>требования</a:t>
            </a:r>
            <a:r>
              <a:rPr sz="1000" dirty="0"/>
              <a:t>: </a:t>
            </a:r>
            <a:r>
              <a:rPr sz="1000" dirty="0" err="1"/>
              <a:t>Стандартный</a:t>
            </a:r>
            <a:r>
              <a:rPr sz="1000" dirty="0"/>
              <a:t> CPU / GPU </a:t>
            </a:r>
            <a:r>
              <a:rPr sz="1000" dirty="0" err="1"/>
              <a:t>для</a:t>
            </a:r>
            <a:r>
              <a:rPr sz="1000" dirty="0"/>
              <a:t> </a:t>
            </a:r>
            <a:r>
              <a:rPr sz="1000" dirty="0" err="1"/>
              <a:t>инференса</a:t>
            </a:r>
            <a:r>
              <a:rPr sz="1000" dirty="0"/>
              <a:t> </a:t>
            </a:r>
            <a:r>
              <a:rPr sz="1000" dirty="0" err="1"/>
              <a:t>со</a:t>
            </a:r>
            <a:r>
              <a:rPr sz="1000" dirty="0"/>
              <a:t> </a:t>
            </a:r>
            <a:r>
              <a:rPr sz="1000" dirty="0" err="1"/>
              <a:t>скоростью</a:t>
            </a:r>
            <a:r>
              <a:rPr sz="1000" dirty="0"/>
              <a:t> 30+ FPS.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75725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TextBox 124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Источники данных и особенности видеоматериалов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ВХОДНЫЕ ВИДЕОЗАПИСИ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1. data/reference/ (Эталон коуча):</a:t>
            </a:r>
          </a:p>
          <a:p>
            <a:pPr>
              <a:spcAft>
                <a:spcPts val="800"/>
              </a:spcAft>
              <a:defRPr sz="1100" b="0">
                <a:solidFill>
                  <a:srgbClr val="323232"/>
                </a:solidFill>
                <a:latin typeface="Arial"/>
              </a:defRPr>
            </a:pPr>
            <a:r>
              <a:t>   • 924 кадра, ~42.17 FPS, эталонная техника зарядки.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2. data/original/ (Запись пользователя):</a:t>
            </a:r>
          </a:p>
          <a:p>
            <a:pPr>
              <a:spcAft>
                <a:spcPts val="800"/>
              </a:spcAft>
              <a:defRPr sz="1100" b="0">
                <a:solidFill>
                  <a:srgbClr val="323232"/>
                </a:solidFill>
                <a:latin typeface="Arial"/>
              </a:defRPr>
            </a:pPr>
            <a:r>
              <a:t>   • 382 кадра, ~29.96 FPS, домашние условия съёмки.</a:t>
            </a:r>
          </a:p>
          <a:p>
            <a:pPr>
              <a:defRPr sz="1100" b="0">
                <a:solidFill>
                  <a:srgbClr val="323232"/>
                </a:solidFill>
                <a:latin typeface="Arial"/>
              </a:defRPr>
            </a:pPr>
            <a:r>
              <a:t>3. Разрешение и форматы: MP4 (H.264), RGB.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4321363" y="148532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КЛЮЧЕВЫЕ ВЫЗОВЫ ДАННЫХ</a:t>
            </a:r>
          </a:p>
          <a:p>
            <a:pPr>
              <a:spcAft>
                <a:spcPts val="8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Разница</a:t>
            </a:r>
            <a:r>
              <a:rPr dirty="0"/>
              <a:t> </a:t>
            </a:r>
            <a:r>
              <a:rPr dirty="0" err="1"/>
              <a:t>во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и FPS: </a:t>
            </a:r>
            <a:r>
              <a:rPr dirty="0" err="1"/>
              <a:t>коэффициент</a:t>
            </a:r>
            <a:r>
              <a:rPr dirty="0"/>
              <a:t> </a:t>
            </a:r>
            <a:r>
              <a:rPr dirty="0" err="1"/>
              <a:t>скорости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~2.42x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dirty="0" err="1"/>
              <a:t>алгоритмической</a:t>
            </a:r>
            <a:r>
              <a:rPr dirty="0"/>
              <a:t> </a:t>
            </a:r>
            <a:r>
              <a:rPr dirty="0" err="1"/>
              <a:t>синхронизации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Различие</a:t>
            </a:r>
            <a:r>
              <a:rPr dirty="0"/>
              <a:t> </a:t>
            </a:r>
            <a:r>
              <a:rPr dirty="0" err="1"/>
              <a:t>масштаба</a:t>
            </a:r>
            <a:r>
              <a:rPr dirty="0"/>
              <a:t> и </a:t>
            </a:r>
            <a:r>
              <a:rPr dirty="0" err="1"/>
              <a:t>ракурса</a:t>
            </a:r>
            <a:r>
              <a:rPr dirty="0"/>
              <a:t>: </a:t>
            </a:r>
            <a:r>
              <a:rPr dirty="0" err="1"/>
              <a:t>разное</a:t>
            </a:r>
            <a:r>
              <a:rPr dirty="0"/>
              <a:t> </a:t>
            </a:r>
            <a:r>
              <a:rPr dirty="0" err="1"/>
              <a:t>расстояние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камеры</a:t>
            </a:r>
            <a:r>
              <a:rPr dirty="0"/>
              <a:t> и </a:t>
            </a:r>
            <a:r>
              <a:rPr dirty="0" err="1"/>
              <a:t>антропометрия</a:t>
            </a:r>
            <a:r>
              <a:rPr dirty="0"/>
              <a:t> </a:t>
            </a:r>
            <a:r>
              <a:rPr dirty="0" err="1"/>
              <a:t>компенсируются</a:t>
            </a:r>
            <a:r>
              <a:rPr dirty="0"/>
              <a:t> </a:t>
            </a:r>
            <a:r>
              <a:rPr dirty="0" err="1"/>
              <a:t>пространственной</a:t>
            </a:r>
            <a:r>
              <a:rPr dirty="0"/>
              <a:t> </a:t>
            </a:r>
            <a:r>
              <a:rPr dirty="0" err="1"/>
              <a:t>нормализацией</a:t>
            </a:r>
            <a:r>
              <a:rPr dirty="0"/>
              <a:t>.</a:t>
            </a:r>
          </a:p>
          <a:p>
            <a:pPr>
              <a:defRPr sz="1100" b="0">
                <a:solidFill>
                  <a:srgbClr val="282828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Фоновые</a:t>
            </a:r>
            <a:r>
              <a:rPr dirty="0"/>
              <a:t> </a:t>
            </a:r>
            <a:r>
              <a:rPr dirty="0" err="1"/>
              <a:t>шумы</a:t>
            </a:r>
            <a:r>
              <a:rPr dirty="0"/>
              <a:t>: </a:t>
            </a:r>
            <a:r>
              <a:rPr dirty="0" err="1"/>
              <a:t>домашний</a:t>
            </a:r>
            <a:r>
              <a:rPr dirty="0"/>
              <a:t> </a:t>
            </a:r>
            <a:r>
              <a:rPr dirty="0" err="1"/>
              <a:t>интерьер</a:t>
            </a:r>
            <a:r>
              <a:rPr dirty="0"/>
              <a:t>, </a:t>
            </a:r>
            <a:r>
              <a:rPr dirty="0" err="1"/>
              <a:t>перекрытия</a:t>
            </a:r>
            <a:r>
              <a:rPr dirty="0"/>
              <a:t> </a:t>
            </a:r>
            <a:r>
              <a:rPr dirty="0" err="1"/>
              <a:t>конечностей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наклонах</a:t>
            </a:r>
            <a:r>
              <a:rPr dirty="0"/>
              <a:t> </a:t>
            </a:r>
            <a:r>
              <a:rPr dirty="0" err="1"/>
              <a:t>корпуса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48538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8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TextBox 142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Сбор, структуры и форматы хранения данных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ПРОМЕЖУТОЧНЫЕ ТЕНЗОРЫ (data/processed/)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poses.npy — тензор координат ключевых точек: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Размерность [N, 33, 2], нормализованные координаты (x, y) для каждого кадра.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conf.npy — тензор оценок достоверности: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t>   Размерность [N, 33], показатели уверенности детекции каждой точки confidence ∈ [0, 1].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ИТОГОВЫЙ ДАТАСЕТ (morning_coach_metrics.csv)</a:t>
            </a:r>
          </a:p>
          <a:p>
            <a:pPr>
              <a:spcAft>
                <a:spcPts val="4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alignment_id (int): номер синхронизированной пары</a:t>
            </a:r>
          </a:p>
          <a:p>
            <a:pPr>
              <a:spcAft>
                <a:spcPts val="4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reference_frame / user_frame (int): исходные кадры</a:t>
            </a:r>
          </a:p>
          <a:p>
            <a:pPr>
              <a:spcAft>
                <a:spcPts val="4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cosine_similarity (float): косинусное сходство [-1, 1]</a:t>
            </a:r>
          </a:p>
          <a:p>
            <a:pPr>
              <a:spcAft>
                <a:spcPts val="4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similarity_percent (float): сходство в % [0, 100%]</a:t>
            </a:r>
          </a:p>
          <a:p>
            <a:pPr>
              <a:spcAft>
                <a:spcPts val="4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weighted_distance (float): взвешенное расстояние</a:t>
            </a:r>
          </a:p>
          <a:p>
            <a:pPr>
              <a:defRPr sz="1050" b="0">
                <a:solidFill>
                  <a:srgbClr val="282828"/>
                </a:solidFill>
                <a:latin typeface="Arial"/>
              </a:defRPr>
            </a:pPr>
            <a:r>
              <a:t>• confidence (float): совместная уверенность min(c_ref, c_usr)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94261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9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Алгоритмы ИИ и архитектура пайплайна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1. ДЕТЕКЦИЯ И СИНХРОНИЗАЦИЯ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MediaPipe Pose Landmarker: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Извлечение 33 3D-ключевых точек тела с субпиксельной точностью и оценкой видимости.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Temporal Alignment (align_by_normalized_time):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t>   Покадровое сопоставление по нормализованной шкале времени t ∈ [0, 1] с устранением рассинхрона.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2. НОРМАЛИЗАЦИЯ И МЕТРИКИ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Pose Normalizer (normalize_pose):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Центрирование по тазу, масштабирование по росту и аффинное выравнивание координат.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• Virtual Coach &amp; Feedback: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t>   Оценка отклонений, цветовая индикация скелета и генерация рекомендаций («ОТЛИЧНО», «КОРРЕКЦИЯ»).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12360" y="188065"/>
            <a:ext cx="1080120" cy="246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75725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TextBox 222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Технологический стек проекта</a:t>
            </a:r>
          </a:p>
        </p:txBody>
      </p:sp>
      <p:sp>
        <p:nvSpPr>
          <p:cNvPr id="224" name="TextBox 223"/>
          <p:cNvSpPr txBox="1"/>
          <p:nvPr/>
        </p:nvSpPr>
        <p:spPr>
          <a:xfrm>
            <a:off x="365760" y="118872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9646"/>
                </a:solidFill>
                <a:latin typeface="Arial"/>
              </a:defRPr>
            </a:pPr>
            <a:r>
              <a:t>КОМПЬЮТЕРНОЕ ЗРЕНИЕ</a:t>
            </a:r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t>• Python 3.11</a:t>
            </a:r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t>   Основной язык разработки</a:t>
            </a:r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t>• MediaPipe 0.10.14</a:t>
            </a:r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t>   Детекция 33 точек позы (Task API)</a:t>
            </a:r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t>• OpenCV 4.10.0</a:t>
            </a:r>
          </a:p>
          <a:p>
            <a:pPr>
              <a:defRPr sz="1000" b="0">
                <a:solidFill>
                  <a:srgbClr val="464646"/>
                </a:solidFill>
                <a:latin typeface="Arial"/>
              </a:defRPr>
            </a:pPr>
            <a:r>
              <a:t>   Чтение/запись видео, оверлей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3200400" y="118872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9646"/>
                </a:solidFill>
                <a:latin typeface="Arial"/>
              </a:defRPr>
            </a:pPr>
            <a:r>
              <a:rPr dirty="0"/>
              <a:t>ДАННЫЕ И МАТЕМАТИКА</a:t>
            </a:r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NumPy 1.26.4</a:t>
            </a:r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Векторные</a:t>
            </a:r>
            <a:r>
              <a:rPr dirty="0"/>
              <a:t> </a:t>
            </a:r>
            <a:r>
              <a:rPr dirty="0" err="1"/>
              <a:t>вычисления</a:t>
            </a:r>
            <a:r>
              <a:rPr dirty="0"/>
              <a:t>, </a:t>
            </a:r>
            <a:r>
              <a:rPr dirty="0" err="1"/>
              <a:t>linalg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Pandas</a:t>
            </a:r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Формирование</a:t>
            </a:r>
            <a:r>
              <a:rPr dirty="0"/>
              <a:t> CSV-</a:t>
            </a:r>
            <a:r>
              <a:rPr dirty="0" err="1"/>
              <a:t>отчётов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Pillow (PIL)</a:t>
            </a:r>
          </a:p>
          <a:p>
            <a:pPr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Отрисовка</a:t>
            </a:r>
            <a:r>
              <a:rPr dirty="0"/>
              <a:t> </a:t>
            </a:r>
            <a:r>
              <a:rPr dirty="0" err="1"/>
              <a:t>русскоязычного</a:t>
            </a:r>
            <a:r>
              <a:rPr dirty="0"/>
              <a:t> </a:t>
            </a:r>
            <a:r>
              <a:rPr dirty="0" err="1"/>
              <a:t>текста</a:t>
            </a:r>
            <a:endParaRPr dirty="0"/>
          </a:p>
        </p:txBody>
      </p:sp>
      <p:sp>
        <p:nvSpPr>
          <p:cNvPr id="226" name="TextBox 225"/>
          <p:cNvSpPr txBox="1"/>
          <p:nvPr/>
        </p:nvSpPr>
        <p:spPr>
          <a:xfrm>
            <a:off x="6035040" y="1188720"/>
            <a:ext cx="26517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09646"/>
                </a:solidFill>
                <a:latin typeface="Arial"/>
              </a:defRPr>
            </a:pPr>
            <a:r>
              <a:rPr dirty="0"/>
              <a:t>ГРАФИКА И КАЧЕСТВО</a:t>
            </a:r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Matplotlib</a:t>
            </a:r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Построение</a:t>
            </a:r>
            <a:r>
              <a:rPr dirty="0"/>
              <a:t> </a:t>
            </a:r>
            <a:r>
              <a:rPr dirty="0" err="1"/>
              <a:t>графиков</a:t>
            </a:r>
            <a:r>
              <a:rPr dirty="0"/>
              <a:t> </a:t>
            </a:r>
            <a:r>
              <a:rPr dirty="0" err="1"/>
              <a:t>динамики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Unittest</a:t>
            </a:r>
            <a:endParaRPr dirty="0"/>
          </a:p>
          <a:p>
            <a:pPr>
              <a:spcAft>
                <a:spcPts val="800"/>
              </a:spcAft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Модульное</a:t>
            </a:r>
            <a:r>
              <a:rPr dirty="0"/>
              <a:t> </a:t>
            </a:r>
            <a:r>
              <a:rPr dirty="0" err="1"/>
              <a:t>тестирование</a:t>
            </a:r>
            <a:r>
              <a:rPr dirty="0"/>
              <a:t> </a:t>
            </a:r>
            <a:r>
              <a:rPr dirty="0" err="1"/>
              <a:t>метрик</a:t>
            </a:r>
            <a:endParaRPr dirty="0"/>
          </a:p>
          <a:p>
            <a:pPr>
              <a:spcAft>
                <a:spcPts val="2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/>
              <a:t>• Git / GitHub</a:t>
            </a:r>
          </a:p>
          <a:p>
            <a:pPr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Версионирование</a:t>
            </a:r>
            <a:r>
              <a:rPr dirty="0"/>
              <a:t> и CI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998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5252" y="478322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1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5" name="TextBox 244"/>
          <p:cNvSpPr txBox="1"/>
          <p:nvPr/>
        </p:nvSpPr>
        <p:spPr>
          <a:xfrm>
            <a:off x="365759" y="615415"/>
            <a:ext cx="84124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rPr dirty="0" err="1">
                <a:solidFill>
                  <a:schemeClr val="tx2"/>
                </a:solidFill>
              </a:rPr>
              <a:t>Метрики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успешности</a:t>
            </a:r>
            <a:r>
              <a:rPr dirty="0">
                <a:solidFill>
                  <a:schemeClr val="tx2"/>
                </a:solidFill>
              </a:rPr>
              <a:t> и </a:t>
            </a:r>
            <a:r>
              <a:rPr dirty="0" err="1">
                <a:solidFill>
                  <a:schemeClr val="tx2"/>
                </a:solidFill>
              </a:rPr>
              <a:t>итоговые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результаты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46" name="TextBox 245"/>
          <p:cNvSpPr txBox="1"/>
          <p:nvPr/>
        </p:nvSpPr>
        <p:spPr>
          <a:xfrm>
            <a:off x="365760" y="1188720"/>
            <a:ext cx="4023360" cy="132343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МАТЕМАТИЧЕСКИЕ ФОРМУЛЫ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Косинусное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сходство</a:t>
            </a:r>
            <a:r>
              <a:rPr dirty="0">
                <a:solidFill>
                  <a:schemeClr val="tx2"/>
                </a:solidFill>
              </a:rPr>
              <a:t> (Cosine Similarity):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Similarity = (u · v) / (||u||₂ · ||v||₂) × 100%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Взвешенное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расстояние</a:t>
            </a:r>
            <a:r>
              <a:rPr dirty="0">
                <a:solidFill>
                  <a:schemeClr val="tx2"/>
                </a:solidFill>
              </a:rPr>
              <a:t> (Weighted Distance):</a:t>
            </a:r>
          </a:p>
          <a:p>
            <a:pPr>
              <a:spcAft>
                <a:spcPts val="4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</a:t>
            </a:r>
            <a:r>
              <a:rPr dirty="0" err="1">
                <a:solidFill>
                  <a:schemeClr val="tx2"/>
                </a:solidFill>
              </a:rPr>
              <a:t>Dist</a:t>
            </a:r>
            <a:r>
              <a:rPr dirty="0">
                <a:solidFill>
                  <a:schemeClr val="tx2"/>
                </a:solidFill>
              </a:rPr>
              <a:t> = (1 / Σ cᵢ) Σ cᵢ |uᵢ - vᵢ|</a:t>
            </a:r>
          </a:p>
          <a:p>
            <a:pPr>
              <a:defRPr sz="1000" b="0">
                <a:solidFill>
                  <a:srgbClr val="464646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</a:t>
            </a:r>
            <a:r>
              <a:rPr dirty="0" err="1">
                <a:solidFill>
                  <a:schemeClr val="tx2"/>
                </a:solidFill>
              </a:rPr>
              <a:t>где</a:t>
            </a:r>
            <a:r>
              <a:rPr dirty="0">
                <a:solidFill>
                  <a:schemeClr val="tx2"/>
                </a:solidFill>
              </a:rPr>
              <a:t> cᵢ = min(</a:t>
            </a:r>
            <a:r>
              <a:rPr dirty="0" err="1">
                <a:solidFill>
                  <a:schemeClr val="tx2"/>
                </a:solidFill>
              </a:rPr>
              <a:t>cᵢ_ref</a:t>
            </a:r>
            <a:r>
              <a:rPr dirty="0">
                <a:solidFill>
                  <a:schemeClr val="tx2"/>
                </a:solidFill>
              </a:rPr>
              <a:t>, </a:t>
            </a:r>
            <a:r>
              <a:rPr dirty="0" err="1">
                <a:solidFill>
                  <a:schemeClr val="tx2"/>
                </a:solidFill>
              </a:rPr>
              <a:t>cᵢ_user</a:t>
            </a:r>
            <a:r>
              <a:rPr dirty="0">
                <a:solidFill>
                  <a:schemeClr val="tx2"/>
                </a:solidFill>
              </a:rPr>
              <a:t>) — </a:t>
            </a:r>
            <a:r>
              <a:rPr dirty="0" err="1">
                <a:solidFill>
                  <a:schemeClr val="tx2"/>
                </a:solidFill>
              </a:rPr>
              <a:t>маска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достоверности</a:t>
            </a:r>
            <a:r>
              <a:rPr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4663440" y="1188720"/>
            <a:ext cx="4114800" cy="158504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РЕЗУЛЬТАТЫ ПРОГОНА (924 </a:t>
            </a:r>
            <a:r>
              <a:rPr dirty="0" err="1"/>
              <a:t>кадра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Среднее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сходство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поз</a:t>
            </a:r>
            <a:r>
              <a:rPr dirty="0">
                <a:solidFill>
                  <a:schemeClr val="tx2"/>
                </a:solidFill>
              </a:rPr>
              <a:t>: 89.87% (</a:t>
            </a:r>
            <a:r>
              <a:rPr dirty="0" err="1">
                <a:solidFill>
                  <a:schemeClr val="tx2"/>
                </a:solidFill>
              </a:rPr>
              <a:t>косинус</a:t>
            </a:r>
            <a:r>
              <a:rPr dirty="0">
                <a:solidFill>
                  <a:schemeClr val="tx2"/>
                </a:solidFill>
              </a:rPr>
              <a:t> 0.928)</a:t>
            </a:r>
          </a:p>
          <a:p>
            <a:pPr>
              <a:spcAft>
                <a:spcPts val="6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Среднее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взвешенное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расстояние</a:t>
            </a:r>
            <a:r>
              <a:rPr dirty="0">
                <a:solidFill>
                  <a:schemeClr val="tx2"/>
                </a:solidFill>
              </a:rPr>
              <a:t>: 1.921</a:t>
            </a:r>
          </a:p>
          <a:p>
            <a:pPr>
              <a:spcAft>
                <a:spcPts val="800"/>
              </a:spcAft>
              <a:defRPr sz="1100" b="1">
                <a:solidFill>
                  <a:srgbClr val="141414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Средняя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достоверность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детектора</a:t>
            </a:r>
            <a:r>
              <a:rPr dirty="0">
                <a:solidFill>
                  <a:schemeClr val="tx2"/>
                </a:solidFill>
              </a:rPr>
              <a:t>: 0.928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Динамика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выполнения</a:t>
            </a:r>
            <a:r>
              <a:rPr dirty="0">
                <a:solidFill>
                  <a:schemeClr val="tx2"/>
                </a:solidFill>
              </a:rPr>
              <a:t>: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</a:t>
            </a:r>
            <a:r>
              <a:rPr dirty="0" err="1">
                <a:solidFill>
                  <a:schemeClr val="tx2"/>
                </a:solidFill>
              </a:rPr>
              <a:t>Фазы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покоя</a:t>
            </a:r>
            <a:r>
              <a:rPr dirty="0">
                <a:solidFill>
                  <a:schemeClr val="tx2"/>
                </a:solidFill>
              </a:rPr>
              <a:t>: &gt;95% </a:t>
            </a:r>
            <a:r>
              <a:rPr dirty="0" err="1">
                <a:solidFill>
                  <a:schemeClr val="tx2"/>
                </a:solidFill>
              </a:rPr>
              <a:t>сходства</a:t>
            </a:r>
            <a:r>
              <a:rPr dirty="0">
                <a:solidFill>
                  <a:schemeClr val="tx2"/>
                </a:solidFill>
              </a:rPr>
              <a:t>. </a:t>
            </a:r>
            <a:r>
              <a:rPr dirty="0" err="1">
                <a:solidFill>
                  <a:schemeClr val="tx2"/>
                </a:solidFill>
              </a:rPr>
              <a:t>Фазы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глубоких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наклонов</a:t>
            </a:r>
            <a:r>
              <a:rPr dirty="0">
                <a:solidFill>
                  <a:schemeClr val="tx2"/>
                </a:solidFill>
              </a:rPr>
              <a:t>: 70–75%, </a:t>
            </a:r>
            <a:r>
              <a:rPr dirty="0" err="1">
                <a:solidFill>
                  <a:schemeClr val="tx2"/>
                </a:solidFill>
              </a:rPr>
              <a:t>что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доказывает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чувствительность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алгоритма</a:t>
            </a:r>
            <a:r>
              <a:rPr dirty="0">
                <a:solidFill>
                  <a:schemeClr val="tx2"/>
                </a:solidFill>
              </a:rPr>
              <a:t> к </a:t>
            </a:r>
            <a:r>
              <a:rPr dirty="0" err="1">
                <a:solidFill>
                  <a:schemeClr val="tx2"/>
                </a:solidFill>
              </a:rPr>
              <a:t>ошибкам</a:t>
            </a:r>
            <a:r>
              <a:rPr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6230"/>
            <a:ext cx="9143998" cy="514558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64526" y="-72008"/>
            <a:ext cx="9308525" cy="523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502920"/>
            <a:ext cx="2926773" cy="86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2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TextBox 265"/>
          <p:cNvSpPr txBox="1"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t>Эксперименты: выбор модели детекции поз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365760" y="1188720"/>
            <a:ext cx="402336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t>СРАВНЕНИЕ АРХИТЕКТУР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1. Baseline: Keypoint R-CNN (ResNet-50 FPN):</a:t>
            </a:r>
          </a:p>
          <a:p>
            <a:pPr>
              <a:spcAft>
                <a:spcPts val="2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• 17 точек COCO, скорость ~8–12 FPS.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• Потеря кистей и стоп при глубоких наклонах.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t>2. Выбор: MediaPipe Pose Landmarker:</a:t>
            </a:r>
          </a:p>
          <a:p>
            <a:pPr>
              <a:spcAft>
                <a:spcPts val="2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t>   • 33 3D-точки, скорость ~30–40 FPS (в 3 раза быстрее).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t>   • Высокая устойчивость к ракурсам и перекрытиям.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365760" y="3010942"/>
            <a:ext cx="411480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ОПТИМИЗАЦИЯ МЕТРИК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Фильтрация</a:t>
            </a:r>
            <a:r>
              <a:rPr dirty="0"/>
              <a:t> </a:t>
            </a:r>
            <a:r>
              <a:rPr dirty="0" err="1"/>
              <a:t>шумов</a:t>
            </a:r>
            <a:r>
              <a:rPr dirty="0"/>
              <a:t> </a:t>
            </a:r>
            <a:r>
              <a:rPr dirty="0" err="1"/>
              <a:t>через</a:t>
            </a:r>
            <a:r>
              <a:rPr dirty="0"/>
              <a:t> confidence-</a:t>
            </a:r>
            <a:r>
              <a:rPr dirty="0" err="1"/>
              <a:t>маску</a:t>
            </a:r>
            <a:r>
              <a:rPr dirty="0"/>
              <a:t>: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Использование</a:t>
            </a:r>
            <a:r>
              <a:rPr dirty="0"/>
              <a:t> min(</a:t>
            </a:r>
            <a:r>
              <a:rPr dirty="0" err="1"/>
              <a:t>c_ref</a:t>
            </a:r>
            <a:r>
              <a:rPr dirty="0"/>
              <a:t>, </a:t>
            </a:r>
            <a:r>
              <a:rPr dirty="0" err="1"/>
              <a:t>c_user</a:t>
            </a:r>
            <a:r>
              <a:rPr dirty="0"/>
              <a:t>) </a:t>
            </a:r>
            <a:r>
              <a:rPr dirty="0" err="1"/>
              <a:t>устранило</a:t>
            </a:r>
            <a:r>
              <a:rPr dirty="0"/>
              <a:t> </a:t>
            </a:r>
            <a:r>
              <a:rPr dirty="0" err="1"/>
              <a:t>ложные</a:t>
            </a:r>
            <a:r>
              <a:rPr dirty="0"/>
              <a:t> </a:t>
            </a:r>
            <a:r>
              <a:rPr dirty="0" err="1"/>
              <a:t>скачки</a:t>
            </a:r>
            <a:r>
              <a:rPr dirty="0"/>
              <a:t> </a:t>
            </a:r>
            <a:r>
              <a:rPr dirty="0" err="1"/>
              <a:t>ошибки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кадрах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тела</a:t>
            </a:r>
            <a:r>
              <a:rPr dirty="0"/>
              <a:t> </a:t>
            </a:r>
            <a:r>
              <a:rPr dirty="0" err="1"/>
              <a:t>выходит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</a:t>
            </a:r>
            <a:r>
              <a:rPr dirty="0" err="1"/>
              <a:t>пределы</a:t>
            </a:r>
            <a:r>
              <a:rPr dirty="0"/>
              <a:t> </a:t>
            </a:r>
            <a:r>
              <a:rPr dirty="0" err="1"/>
              <a:t>видимости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/>
              <a:t>• </a:t>
            </a:r>
            <a:r>
              <a:rPr dirty="0" err="1"/>
              <a:t>Сравнение</a:t>
            </a:r>
            <a:r>
              <a:rPr dirty="0"/>
              <a:t> </a:t>
            </a:r>
            <a:r>
              <a:rPr dirty="0" err="1"/>
              <a:t>евклидова</a:t>
            </a:r>
            <a:r>
              <a:rPr dirty="0"/>
              <a:t> и </a:t>
            </a:r>
            <a:r>
              <a:rPr dirty="0" err="1"/>
              <a:t>косинусного</a:t>
            </a:r>
            <a:r>
              <a:rPr dirty="0"/>
              <a:t> </a:t>
            </a:r>
            <a:r>
              <a:rPr dirty="0" err="1"/>
              <a:t>сходства</a:t>
            </a:r>
            <a:r>
              <a:rPr dirty="0"/>
              <a:t>: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/>
              <a:t>   </a:t>
            </a:r>
            <a:r>
              <a:rPr dirty="0" err="1"/>
              <a:t>Косинусное</a:t>
            </a:r>
            <a:r>
              <a:rPr dirty="0"/>
              <a:t> </a:t>
            </a:r>
            <a:r>
              <a:rPr dirty="0" err="1"/>
              <a:t>сходство</a:t>
            </a:r>
            <a:r>
              <a:rPr dirty="0"/>
              <a:t> </a:t>
            </a:r>
            <a:r>
              <a:rPr dirty="0" err="1"/>
              <a:t>нормализованных</a:t>
            </a:r>
            <a:r>
              <a:rPr dirty="0"/>
              <a:t> </a:t>
            </a:r>
            <a:r>
              <a:rPr dirty="0" err="1"/>
              <a:t>векторов</a:t>
            </a:r>
            <a:r>
              <a:rPr dirty="0"/>
              <a:t> </a:t>
            </a:r>
            <a:r>
              <a:rPr dirty="0" err="1"/>
              <a:t>инвариантно</a:t>
            </a:r>
            <a:r>
              <a:rPr dirty="0"/>
              <a:t> к </a:t>
            </a:r>
            <a:r>
              <a:rPr dirty="0" err="1"/>
              <a:t>габаритам</a:t>
            </a:r>
            <a:r>
              <a:rPr dirty="0"/>
              <a:t> и </a:t>
            </a:r>
            <a:r>
              <a:rPr dirty="0" err="1"/>
              <a:t>даёт</a:t>
            </a:r>
            <a:r>
              <a:rPr dirty="0"/>
              <a:t> </a:t>
            </a:r>
            <a:r>
              <a:rPr dirty="0" err="1"/>
              <a:t>монотонную</a:t>
            </a:r>
            <a:r>
              <a:rPr dirty="0"/>
              <a:t> </a:t>
            </a:r>
            <a:r>
              <a:rPr dirty="0" err="1"/>
              <a:t>шкалу</a:t>
            </a:r>
            <a:r>
              <a:rPr dirty="0"/>
              <a:t> 0–100%.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72008"/>
            <a:ext cx="9144000" cy="52360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821140" y="195486"/>
            <a:ext cx="1062559" cy="248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5252" y="488371"/>
            <a:ext cx="2926773" cy="865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3"/>
          <p:cNvSpPr/>
          <p:nvPr/>
        </p:nvSpPr>
        <p:spPr>
          <a:xfrm>
            <a:off x="205252" y="196075"/>
            <a:ext cx="35145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Специализация «</a:t>
            </a:r>
            <a:r>
              <a:rPr lang="ru" sz="8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Data Science, Computer Vision</a:t>
            </a:r>
            <a:r>
              <a:rPr lang="ru" sz="8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»</a:t>
            </a:r>
            <a:endParaRPr sz="800" b="0" i="0" u="none" strike="noStrike" cap="none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TextBox 282"/>
          <p:cNvSpPr txBox="1"/>
          <p:nvPr/>
        </p:nvSpPr>
        <p:spPr>
          <a:xfrm>
            <a:off x="274320" y="571500"/>
            <a:ext cx="8412480" cy="3077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 b="1">
                <a:solidFill>
                  <a:srgbClr val="1E1E1E"/>
                </a:solidFill>
                <a:latin typeface="Arial"/>
              </a:defRPr>
            </a:pPr>
            <a:r>
              <a:rPr dirty="0" err="1">
                <a:solidFill>
                  <a:schemeClr val="tx2"/>
                </a:solidFill>
              </a:rPr>
              <a:t>Результаты</a:t>
            </a:r>
            <a:r>
              <a:rPr dirty="0">
                <a:solidFill>
                  <a:schemeClr val="tx2"/>
                </a:solidFill>
              </a:rPr>
              <a:t>, </a:t>
            </a:r>
            <a:r>
              <a:rPr dirty="0" err="1">
                <a:solidFill>
                  <a:schemeClr val="tx2"/>
                </a:solidFill>
              </a:rPr>
              <a:t>визуализация</a:t>
            </a:r>
            <a:r>
              <a:rPr dirty="0">
                <a:solidFill>
                  <a:schemeClr val="tx2"/>
                </a:solidFill>
              </a:rPr>
              <a:t> и </a:t>
            </a:r>
            <a:r>
              <a:rPr lang="ru-RU" dirty="0">
                <a:solidFill>
                  <a:schemeClr val="tx2"/>
                </a:solidFill>
              </a:rPr>
              <a:t>данные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проекта</a:t>
            </a:r>
            <a:endParaRPr dirty="0">
              <a:solidFill>
                <a:schemeClr val="tx2"/>
              </a:solidFill>
            </a:endParaRPr>
          </a:p>
        </p:txBody>
      </p:sp>
      <p:sp>
        <p:nvSpPr>
          <p:cNvPr id="284" name="TextBox 283"/>
          <p:cNvSpPr txBox="1"/>
          <p:nvPr/>
        </p:nvSpPr>
        <p:spPr>
          <a:xfrm>
            <a:off x="365760" y="1188720"/>
            <a:ext cx="4023360" cy="1672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АРТЕФАКТЫ ВЫПОЛНЕНИЯ (</a:t>
            </a:r>
            <a:r>
              <a:rPr dirty="0" err="1"/>
              <a:t>папка</a:t>
            </a:r>
            <a:r>
              <a:rPr dirty="0"/>
              <a:t> output/)</a:t>
            </a:r>
          </a:p>
          <a:p>
            <a:pPr>
              <a:spcAft>
                <a:spcPts val="200"/>
              </a:spcAft>
              <a:defRPr sz="1100" b="1">
                <a:solidFill>
                  <a:srgbClr val="1E1E1E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1. morning_coach_result.mp4:</a:t>
            </a:r>
          </a:p>
          <a:p>
            <a:pPr>
              <a:spcAft>
                <a:spcPts val="2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• Side-by-side </a:t>
            </a:r>
            <a:r>
              <a:rPr dirty="0" err="1">
                <a:solidFill>
                  <a:schemeClr val="tx2"/>
                </a:solidFill>
              </a:rPr>
              <a:t>видео</a:t>
            </a:r>
            <a:r>
              <a:rPr dirty="0">
                <a:solidFill>
                  <a:schemeClr val="tx2"/>
                </a:solidFill>
              </a:rPr>
              <a:t>: </a:t>
            </a:r>
            <a:r>
              <a:rPr dirty="0" err="1">
                <a:solidFill>
                  <a:schemeClr val="tx2"/>
                </a:solidFill>
              </a:rPr>
              <a:t>эталон</a:t>
            </a:r>
            <a:r>
              <a:rPr dirty="0">
                <a:solidFill>
                  <a:schemeClr val="tx2"/>
                </a:solidFill>
              </a:rPr>
              <a:t> (</a:t>
            </a:r>
            <a:r>
              <a:rPr dirty="0" err="1">
                <a:solidFill>
                  <a:schemeClr val="tx2"/>
                </a:solidFill>
              </a:rPr>
              <a:t>синий</a:t>
            </a:r>
            <a:r>
              <a:rPr dirty="0">
                <a:solidFill>
                  <a:schemeClr val="tx2"/>
                </a:solidFill>
              </a:rPr>
              <a:t>) vs </a:t>
            </a:r>
            <a:r>
              <a:rPr dirty="0" err="1">
                <a:solidFill>
                  <a:schemeClr val="tx2"/>
                </a:solidFill>
              </a:rPr>
              <a:t>пользователь</a:t>
            </a:r>
            <a:r>
              <a:rPr dirty="0">
                <a:solidFill>
                  <a:schemeClr val="tx2"/>
                </a:solidFill>
              </a:rPr>
              <a:t>.</a:t>
            </a:r>
          </a:p>
          <a:p>
            <a:pPr>
              <a:spcAft>
                <a:spcPts val="2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• </a:t>
            </a:r>
            <a:r>
              <a:rPr dirty="0" err="1">
                <a:solidFill>
                  <a:schemeClr val="tx2"/>
                </a:solidFill>
              </a:rPr>
              <a:t>Динамическая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цветовая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индикация</a:t>
            </a:r>
            <a:r>
              <a:rPr dirty="0">
                <a:solidFill>
                  <a:schemeClr val="tx2"/>
                </a:solidFill>
              </a:rPr>
              <a:t> (</a:t>
            </a:r>
            <a:r>
              <a:rPr dirty="0" err="1">
                <a:solidFill>
                  <a:schemeClr val="tx2"/>
                </a:solidFill>
              </a:rPr>
              <a:t>зеленый</a:t>
            </a:r>
            <a:r>
              <a:rPr dirty="0">
                <a:solidFill>
                  <a:schemeClr val="tx2"/>
                </a:solidFill>
              </a:rPr>
              <a:t>/</a:t>
            </a:r>
            <a:r>
              <a:rPr dirty="0" err="1">
                <a:solidFill>
                  <a:schemeClr val="tx2"/>
                </a:solidFill>
              </a:rPr>
              <a:t>желтый</a:t>
            </a:r>
            <a:r>
              <a:rPr dirty="0">
                <a:solidFill>
                  <a:schemeClr val="tx2"/>
                </a:solidFill>
              </a:rPr>
              <a:t>/</a:t>
            </a:r>
            <a:r>
              <a:rPr dirty="0" err="1">
                <a:solidFill>
                  <a:schemeClr val="tx2"/>
                </a:solidFill>
              </a:rPr>
              <a:t>красный</a:t>
            </a:r>
            <a:r>
              <a:rPr dirty="0">
                <a:solidFill>
                  <a:schemeClr val="tx2"/>
                </a:solidFill>
              </a:rPr>
              <a:t>).</a:t>
            </a:r>
          </a:p>
          <a:p>
            <a:pPr>
              <a:spcAft>
                <a:spcPts val="8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   • </a:t>
            </a:r>
            <a:r>
              <a:rPr dirty="0" err="1">
                <a:solidFill>
                  <a:schemeClr val="tx2"/>
                </a:solidFill>
              </a:rPr>
              <a:t>Инфопанель</a:t>
            </a:r>
            <a:r>
              <a:rPr dirty="0">
                <a:solidFill>
                  <a:schemeClr val="tx2"/>
                </a:solidFill>
              </a:rPr>
              <a:t> с </a:t>
            </a:r>
            <a:r>
              <a:rPr dirty="0" err="1">
                <a:solidFill>
                  <a:schemeClr val="tx2"/>
                </a:solidFill>
              </a:rPr>
              <a:t>метриками</a:t>
            </a:r>
            <a:r>
              <a:rPr dirty="0">
                <a:solidFill>
                  <a:schemeClr val="tx2"/>
                </a:solidFill>
              </a:rPr>
              <a:t>, </a:t>
            </a:r>
            <a:r>
              <a:rPr dirty="0" err="1">
                <a:solidFill>
                  <a:schemeClr val="tx2"/>
                </a:solidFill>
              </a:rPr>
              <a:t>статусом</a:t>
            </a:r>
            <a:r>
              <a:rPr dirty="0">
                <a:solidFill>
                  <a:schemeClr val="tx2"/>
                </a:solidFill>
              </a:rPr>
              <a:t> и </a:t>
            </a:r>
            <a:r>
              <a:rPr dirty="0" err="1">
                <a:solidFill>
                  <a:schemeClr val="tx2"/>
                </a:solidFill>
              </a:rPr>
              <a:t>советами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тренера</a:t>
            </a:r>
            <a:r>
              <a:rPr dirty="0">
                <a:solidFill>
                  <a:schemeClr val="tx2"/>
                </a:solidFill>
              </a:rPr>
              <a:t>.</a:t>
            </a:r>
          </a:p>
          <a:p>
            <a:pPr>
              <a:spcAft>
                <a:spcPts val="400"/>
              </a:spcAft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2. metrics_plot.png: </a:t>
            </a:r>
            <a:r>
              <a:rPr dirty="0" err="1">
                <a:solidFill>
                  <a:schemeClr val="tx2"/>
                </a:solidFill>
              </a:rPr>
              <a:t>Графики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динамики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сходства</a:t>
            </a:r>
            <a:r>
              <a:rPr dirty="0">
                <a:solidFill>
                  <a:schemeClr val="tx2"/>
                </a:solidFill>
              </a:rPr>
              <a:t>.</a:t>
            </a:r>
          </a:p>
          <a:p>
            <a:pPr>
              <a:defRPr sz="1050" b="0">
                <a:solidFill>
                  <a:srgbClr val="323232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3. morning_coach_metrics.csv: </a:t>
            </a:r>
            <a:r>
              <a:rPr dirty="0" err="1">
                <a:solidFill>
                  <a:schemeClr val="tx2"/>
                </a:solidFill>
              </a:rPr>
              <a:t>Полный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датасет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метрик</a:t>
            </a:r>
            <a:r>
              <a:rPr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85" name="TextBox 284"/>
          <p:cNvSpPr txBox="1"/>
          <p:nvPr/>
        </p:nvSpPr>
        <p:spPr>
          <a:xfrm>
            <a:off x="4663440" y="1188720"/>
            <a:ext cx="4114800" cy="186461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09646"/>
                </a:solidFill>
                <a:latin typeface="Arial"/>
              </a:defRPr>
            </a:pPr>
            <a:r>
              <a:rPr dirty="0"/>
              <a:t>СТРУКТУРА РЕПОЗИТОРИЯ И ВОСПРОИЗВОДИМОСТЬ</a:t>
            </a:r>
          </a:p>
          <a:p>
            <a:pPr>
              <a:spcAft>
                <a:spcPts val="6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Модульный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пакет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src</a:t>
            </a:r>
            <a:r>
              <a:rPr dirty="0">
                <a:solidFill>
                  <a:schemeClr val="tx2"/>
                </a:solidFill>
              </a:rPr>
              <a:t>/ (</a:t>
            </a:r>
            <a:r>
              <a:rPr dirty="0" err="1">
                <a:solidFill>
                  <a:schemeClr val="tx2"/>
                </a:solidFill>
              </a:rPr>
              <a:t>MyProject</a:t>
            </a:r>
            <a:r>
              <a:rPr dirty="0">
                <a:solidFill>
                  <a:schemeClr val="tx2"/>
                </a:solidFill>
              </a:rPr>
              <a:t>, </a:t>
            </a:r>
            <a:r>
              <a:rPr dirty="0" err="1">
                <a:solidFill>
                  <a:schemeClr val="tx2"/>
                </a:solidFill>
              </a:rPr>
              <a:t>myproject_data</a:t>
            </a:r>
            <a:r>
              <a:rPr dirty="0">
                <a:solidFill>
                  <a:schemeClr val="tx2"/>
                </a:solidFill>
              </a:rPr>
              <a:t>, </a:t>
            </a:r>
            <a:r>
              <a:rPr dirty="0" err="1">
                <a:solidFill>
                  <a:schemeClr val="tx2"/>
                </a:solidFill>
              </a:rPr>
              <a:t>myproject_models</a:t>
            </a:r>
            <a:r>
              <a:rPr dirty="0">
                <a:solidFill>
                  <a:schemeClr val="tx2"/>
                </a:solidFill>
              </a:rPr>
              <a:t>).</a:t>
            </a:r>
          </a:p>
          <a:p>
            <a:pPr>
              <a:spcAft>
                <a:spcPts val="6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Исполняемый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скрипт</a:t>
            </a:r>
            <a:r>
              <a:rPr dirty="0">
                <a:solidFill>
                  <a:schemeClr val="tx2"/>
                </a:solidFill>
              </a:rPr>
              <a:t> scripts/main.py </a:t>
            </a:r>
            <a:r>
              <a:rPr dirty="0" err="1">
                <a:solidFill>
                  <a:schemeClr val="tx2"/>
                </a:solidFill>
              </a:rPr>
              <a:t>для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запуска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полного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пайплайна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одной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командой</a:t>
            </a:r>
            <a:r>
              <a:rPr dirty="0">
                <a:solidFill>
                  <a:schemeClr val="tx2"/>
                </a:solidFill>
              </a:rPr>
              <a:t>.</a:t>
            </a:r>
          </a:p>
          <a:p>
            <a:pPr>
              <a:spcAft>
                <a:spcPts val="600"/>
              </a:spcAft>
              <a:defRPr sz="1050" b="0">
                <a:solidFill>
                  <a:srgbClr val="282828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Демонстрационный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Jupyter</a:t>
            </a:r>
            <a:r>
              <a:rPr dirty="0">
                <a:solidFill>
                  <a:schemeClr val="tx2"/>
                </a:solidFill>
              </a:rPr>
              <a:t> Notebook в examples/.</a:t>
            </a:r>
          </a:p>
          <a:p>
            <a:pPr>
              <a:defRPr sz="1050" b="0">
                <a:solidFill>
                  <a:srgbClr val="282828"/>
                </a:solidFill>
                <a:latin typeface="Arial"/>
              </a:defRPr>
            </a:pPr>
            <a:r>
              <a:rPr dirty="0">
                <a:solidFill>
                  <a:schemeClr val="tx2"/>
                </a:solidFill>
              </a:rPr>
              <a:t>• </a:t>
            </a:r>
            <a:r>
              <a:rPr dirty="0" err="1">
                <a:solidFill>
                  <a:schemeClr val="tx2"/>
                </a:solidFill>
              </a:rPr>
              <a:t>Пакет</a:t>
            </a:r>
            <a:r>
              <a:rPr dirty="0">
                <a:solidFill>
                  <a:schemeClr val="tx2"/>
                </a:solidFill>
              </a:rPr>
              <a:t> unit-</a:t>
            </a:r>
            <a:r>
              <a:rPr dirty="0" err="1">
                <a:solidFill>
                  <a:schemeClr val="tx2"/>
                </a:solidFill>
              </a:rPr>
              <a:t>тестов</a:t>
            </a:r>
            <a:r>
              <a:rPr dirty="0">
                <a:solidFill>
                  <a:schemeClr val="tx2"/>
                </a:solidFill>
              </a:rPr>
              <a:t> в tests/ </a:t>
            </a:r>
            <a:r>
              <a:rPr dirty="0" err="1">
                <a:solidFill>
                  <a:schemeClr val="tx2"/>
                </a:solidFill>
              </a:rPr>
              <a:t>для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проверки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расчёта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метрик</a:t>
            </a:r>
            <a:r>
              <a:rPr dirty="0">
                <a:solidFill>
                  <a:schemeClr val="tx2"/>
                </a:solidFill>
              </a:rPr>
              <a:t> и </a:t>
            </a:r>
            <a:r>
              <a:rPr dirty="0" err="1">
                <a:solidFill>
                  <a:schemeClr val="tx2"/>
                </a:solidFill>
              </a:rPr>
              <a:t>нормализации</a:t>
            </a:r>
            <a:r>
              <a:rPr dirty="0">
                <a:solidFill>
                  <a:schemeClr val="tx2"/>
                </a:solidFill>
              </a:rPr>
              <a:t> </a:t>
            </a:r>
            <a:r>
              <a:rPr dirty="0" err="1">
                <a:solidFill>
                  <a:schemeClr val="tx2"/>
                </a:solidFill>
              </a:rPr>
              <a:t>поз</a:t>
            </a:r>
            <a:r>
              <a:rPr dirty="0">
                <a:solidFill>
                  <a:schemeClr val="tx2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1217</Words>
  <Application>Microsoft Office PowerPoint</Application>
  <PresentationFormat>Экран (16:9)</PresentationFormat>
  <Paragraphs>129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Roboto</vt:lpstr>
      <vt:lpstr>Calibri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Учётка /</dc:creator>
  <cp:lastModifiedBy>Учётка /</cp:lastModifiedBy>
  <cp:revision>1</cp:revision>
  <dcterms:modified xsi:type="dcterms:W3CDTF">2026-10-21T08:51:21Z</dcterms:modified>
</cp:coreProperties>
</file>